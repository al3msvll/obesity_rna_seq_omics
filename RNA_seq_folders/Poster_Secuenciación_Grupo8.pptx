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7" r:id="rId5"/>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666"/>
    <p:restoredTop sz="94709"/>
  </p:normalViewPr>
  <p:slideViewPr>
    <p:cSldViewPr snapToGrid="0">
      <p:cViewPr>
        <p:scale>
          <a:sx n="89" d="100"/>
          <a:sy n="89" d="100"/>
        </p:scale>
        <p:origin x="968"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C9E7FC-5DA9-1C4F-98B4-5FA7B65DB9C6}" type="datetimeFigureOut">
              <a:rPr lang="es-ES" smtClean="0"/>
              <a:t>18/12/25</a:t>
            </a:fld>
            <a:endParaRPr lang="es-ES"/>
          </a:p>
        </p:txBody>
      </p:sp>
      <p:sp>
        <p:nvSpPr>
          <p:cNvPr id="4" name="Marcador de imagen de diapositiva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908C5-8BA6-6845-AF30-CBF8FDD8AF7C}" type="slidenum">
              <a:rPr lang="es-ES" smtClean="0"/>
              <a:t>‹Nº›</a:t>
            </a:fld>
            <a:endParaRPr lang="es-ES"/>
          </a:p>
        </p:txBody>
      </p:sp>
    </p:spTree>
    <p:extLst>
      <p:ext uri="{BB962C8B-B14F-4D97-AF65-F5344CB8AC3E}">
        <p14:creationId xmlns:p14="http://schemas.microsoft.com/office/powerpoint/2010/main" val="1405397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28908C5-8BA6-6845-AF30-CBF8FDD8AF7C}" type="slidenum">
              <a:rPr lang="es-ES" smtClean="0"/>
              <a:t>1</a:t>
            </a:fld>
            <a:endParaRPr lang="es-ES"/>
          </a:p>
        </p:txBody>
      </p:sp>
    </p:spTree>
    <p:extLst>
      <p:ext uri="{BB962C8B-B14F-4D97-AF65-F5344CB8AC3E}">
        <p14:creationId xmlns:p14="http://schemas.microsoft.com/office/powerpoint/2010/main" val="1619931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15/12/25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15/12/25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6" y="7403672"/>
            <a:ext cx="14668990" cy="9665128"/>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640260"/>
            <a:chOff x="225180" y="3930299"/>
            <a:chExt cx="14668990" cy="1640260"/>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2"/>
              <a:ext cx="14668990" cy="1323737"/>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dirty="0">
                  <a:solidFill>
                    <a:schemeClr val="tx1"/>
                  </a:solidFill>
                </a:rPr>
                <a:t>La obesidad es una condición compleja asociada a alteraciones metabólicas y cambios en la regulación de la expresión génica. El análisis de datos de RNA-</a:t>
              </a:r>
              <a:r>
                <a:rPr lang="es-ES" dirty="0" err="1">
                  <a:solidFill>
                    <a:schemeClr val="tx1"/>
                  </a:solidFill>
                </a:rPr>
                <a:t>seq</a:t>
              </a:r>
              <a:r>
                <a:rPr lang="es-ES" dirty="0">
                  <a:solidFill>
                    <a:schemeClr val="tx1"/>
                  </a:solidFill>
                </a:rPr>
                <a:t> permite identificar genes diferencialmente expresados implicados en esta condición. </a:t>
              </a:r>
              <a:r>
                <a:rPr lang="es-ES_tradnl" dirty="0">
                  <a:solidFill>
                    <a:schemeClr val="tx1"/>
                  </a:solidFill>
                </a:rPr>
                <a:t>El objetivo de este trabajo es comparar perfiles de expresión génica entre individuos </a:t>
              </a:r>
              <a:r>
                <a:rPr lang="es-ES_tradnl" dirty="0" err="1">
                  <a:solidFill>
                    <a:schemeClr val="tx1"/>
                  </a:solidFill>
                </a:rPr>
                <a:t>Normopeso</a:t>
              </a:r>
              <a:r>
                <a:rPr lang="es-ES_tradnl" dirty="0">
                  <a:solidFill>
                    <a:schemeClr val="tx1"/>
                  </a:solidFill>
                </a:rPr>
                <a:t> y individuos con obesidad utilizando un conjunto de datos basado en personajes de Los Simpson como modelo didáctico.</a:t>
              </a: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dirty="0">
                  <a:solidFill>
                    <a:schemeClr val="tx1"/>
                  </a:solidFill>
                </a:rPr>
                <a:t>El conjunto de datos de RNA-</a:t>
              </a:r>
              <a:r>
                <a:rPr lang="es-ES_tradnl" dirty="0" err="1">
                  <a:solidFill>
                    <a:schemeClr val="tx1"/>
                  </a:solidFill>
                </a:rPr>
                <a:t>seq</a:t>
              </a:r>
              <a:r>
                <a:rPr lang="es-ES_tradnl" dirty="0">
                  <a:solidFill>
                    <a:schemeClr val="tx1"/>
                  </a:solidFill>
                </a:rPr>
                <a:t> analizado en este póster corresponde a una comparación entre individuos </a:t>
              </a:r>
              <a:r>
                <a:rPr lang="es-ES_tradnl" dirty="0" err="1">
                  <a:solidFill>
                    <a:schemeClr val="tx1"/>
                  </a:solidFill>
                </a:rPr>
                <a:t>Normopeso</a:t>
              </a:r>
              <a:r>
                <a:rPr lang="es-ES_tradnl" dirty="0">
                  <a:solidFill>
                    <a:schemeClr val="tx1"/>
                  </a:solidFill>
                </a:rPr>
                <a:t> y Obeso. </a:t>
              </a:r>
              <a:r>
                <a:rPr lang="es-ES" dirty="0">
                  <a:solidFill>
                    <a:schemeClr val="tx1"/>
                  </a:solidFill>
                </a:rPr>
                <a:t>La calidad de las lecturas de RNA-</a:t>
              </a:r>
              <a:r>
                <a:rPr lang="es-ES" dirty="0" err="1">
                  <a:solidFill>
                    <a:schemeClr val="tx1"/>
                  </a:solidFill>
                </a:rPr>
                <a:t>seq</a:t>
              </a:r>
              <a:r>
                <a:rPr lang="es-ES" dirty="0">
                  <a:solidFill>
                    <a:schemeClr val="tx1"/>
                  </a:solidFill>
                </a:rPr>
                <a:t> se evaluó mediante </a:t>
              </a:r>
              <a:r>
                <a:rPr lang="es-ES" dirty="0" err="1">
                  <a:solidFill>
                    <a:schemeClr val="tx1"/>
                  </a:solidFill>
                </a:rPr>
                <a:t>FastQC</a:t>
              </a:r>
              <a:r>
                <a:rPr lang="es-ES" dirty="0">
                  <a:solidFill>
                    <a:schemeClr val="tx1"/>
                  </a:solidFill>
                </a:rPr>
                <a:t> (integraron </a:t>
              </a:r>
              <a:r>
                <a:rPr lang="es-ES" dirty="0" err="1">
                  <a:solidFill>
                    <a:schemeClr val="tx1"/>
                  </a:solidFill>
                </a:rPr>
                <a:t>MultiQC</a:t>
              </a:r>
              <a:r>
                <a:rPr lang="es-ES" dirty="0">
                  <a:solidFill>
                    <a:schemeClr val="tx1"/>
                  </a:solidFill>
                </a:rPr>
                <a:t>). La cuantificación de la expresión génica se realizó con Salmon mediante </a:t>
              </a:r>
              <a:r>
                <a:rPr lang="es-ES" dirty="0" err="1">
                  <a:solidFill>
                    <a:schemeClr val="tx1"/>
                  </a:solidFill>
                </a:rPr>
                <a:t>pseudoalineamiento</a:t>
              </a:r>
              <a:r>
                <a:rPr lang="es-ES" dirty="0">
                  <a:solidFill>
                    <a:schemeClr val="tx1"/>
                  </a:solidFill>
                </a:rPr>
                <a:t> frente a un transcriptoma de referencia. El análisis de expresión diferencial entre los grupos </a:t>
              </a:r>
              <a:r>
                <a:rPr lang="es-ES" dirty="0" err="1">
                  <a:solidFill>
                    <a:schemeClr val="tx1"/>
                  </a:solidFill>
                </a:rPr>
                <a:t>Normopeso</a:t>
              </a:r>
              <a:r>
                <a:rPr lang="es-ES" dirty="0">
                  <a:solidFill>
                    <a:schemeClr val="tx1"/>
                  </a:solidFill>
                </a:rPr>
                <a:t> y Obeso1 se llevó a cabo con DESeq2, que aplica una normalización interna basada en factores de tamaño. Para la visualización de los resultados se utilizó la transformación de estabilización de varianza (VST), generándose análisis de componentes principales (PCA), </a:t>
              </a:r>
              <a:r>
                <a:rPr lang="es-ES" dirty="0" err="1">
                  <a:solidFill>
                    <a:schemeClr val="tx1"/>
                  </a:solidFill>
                </a:rPr>
                <a:t>Heatmap</a:t>
              </a:r>
              <a:r>
                <a:rPr lang="es-ES" dirty="0">
                  <a:solidFill>
                    <a:schemeClr val="tx1"/>
                  </a:solidFill>
                </a:rPr>
                <a:t> y un </a:t>
              </a:r>
              <a:r>
                <a:rPr lang="es-ES" dirty="0" err="1">
                  <a:solidFill>
                    <a:schemeClr val="tx1"/>
                  </a:solidFill>
                </a:rPr>
                <a:t>Volcano</a:t>
              </a:r>
              <a:r>
                <a:rPr lang="es-ES" dirty="0">
                  <a:solidFill>
                    <a:schemeClr val="tx1"/>
                  </a:solidFill>
                </a:rPr>
                <a:t> </a:t>
              </a:r>
              <a:r>
                <a:rPr lang="es-ES" dirty="0" err="1">
                  <a:solidFill>
                    <a:schemeClr val="tx1"/>
                  </a:solidFill>
                </a:rPr>
                <a:t>plot</a:t>
              </a:r>
              <a:r>
                <a:rPr lang="es-ES" dirty="0">
                  <a:solidFill>
                    <a:schemeClr val="tx1"/>
                  </a:solidFill>
                </a:rPr>
                <a:t>.</a:t>
              </a:r>
              <a:endParaRPr lang="es-ES_tradnl"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r>
                <a:rPr lang="es-ES" dirty="0">
                  <a:solidFill>
                    <a:schemeClr val="tx1"/>
                  </a:solidFill>
                </a:rPr>
                <a:t>La evaluación de calidad mediante </a:t>
              </a:r>
              <a:r>
                <a:rPr lang="es-ES" dirty="0" err="1">
                  <a:solidFill>
                    <a:schemeClr val="tx1"/>
                  </a:solidFill>
                </a:rPr>
                <a:t>FastQC</a:t>
              </a:r>
              <a:r>
                <a:rPr lang="es-ES" dirty="0">
                  <a:solidFill>
                    <a:schemeClr val="tx1"/>
                  </a:solidFill>
                </a:rPr>
                <a:t>, mostró una adecuada calidad de los datos para el análisis posterior. La normalización mediante DESeq2 corrigió las diferencias en la profundidad de secuenciación, mientras que la transformación VST permitió reducir la variabilidad técnica y facilitar la visualización de los patrones de expresión génica.</a:t>
              </a:r>
            </a:p>
            <a:p>
              <a:r>
                <a:rPr lang="es-ES" dirty="0">
                  <a:solidFill>
                    <a:schemeClr val="tx1"/>
                  </a:solidFill>
                </a:rPr>
                <a:t>El análisis de PCA evidenció una clara separación entre los grupos </a:t>
              </a:r>
              <a:r>
                <a:rPr lang="es-ES" dirty="0" err="1">
                  <a:solidFill>
                    <a:schemeClr val="tx1"/>
                  </a:solidFill>
                </a:rPr>
                <a:t>Normopeso</a:t>
              </a:r>
              <a:r>
                <a:rPr lang="es-ES" dirty="0">
                  <a:solidFill>
                    <a:schemeClr val="tx1"/>
                  </a:solidFill>
                </a:rPr>
                <a:t> y Obeso, indicando que la condición biológica es el principal factor que explica la variabilidad observada. El análisis de expresión diferencial identificó un conjunto de genes significativamente alterados entre ambos grupos, destacando NTRK2 con mayor significación </a:t>
              </a:r>
              <a:r>
                <a:rPr lang="es-ES" dirty="0" err="1">
                  <a:solidFill>
                    <a:schemeClr val="tx1"/>
                  </a:solidFill>
                </a:rPr>
                <a:t>estaditica</a:t>
              </a:r>
              <a:r>
                <a:rPr lang="es-ES" dirty="0">
                  <a:solidFill>
                    <a:schemeClr val="tx1"/>
                  </a:solidFill>
                </a:rPr>
                <a:t>. El </a:t>
              </a:r>
              <a:r>
                <a:rPr lang="es-ES" dirty="0" err="1">
                  <a:solidFill>
                    <a:schemeClr val="tx1"/>
                  </a:solidFill>
                </a:rPr>
                <a:t>heatmap</a:t>
              </a:r>
              <a:r>
                <a:rPr lang="es-ES" dirty="0">
                  <a:solidFill>
                    <a:schemeClr val="tx1"/>
                  </a:solidFill>
                </a:rPr>
                <a:t> confirmó patrones globales de expresión diferencial, incluyendo genes relacionados con la regulación metabólica, como LEP, que mostró menor expresión en el grupo obeso. </a:t>
              </a: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7" y="17303689"/>
            <a:ext cx="5366712" cy="3844742"/>
            <a:chOff x="7784855"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5"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dirty="0">
                  <a:solidFill>
                    <a:schemeClr val="tx1"/>
                  </a:solidFill>
                </a:rPr>
                <a:t>El análisis de RNA-</a:t>
              </a:r>
              <a:r>
                <a:rPr lang="es-ES_tradnl" dirty="0" err="1">
                  <a:solidFill>
                    <a:schemeClr val="tx1"/>
                  </a:solidFill>
                </a:rPr>
                <a:t>seq</a:t>
              </a:r>
              <a:r>
                <a:rPr lang="es-ES_tradnl" dirty="0">
                  <a:solidFill>
                    <a:schemeClr val="tx1"/>
                  </a:solidFill>
                </a:rPr>
                <a:t> permitió identificar cambios consistentes en la expresión génica asociados a la obesidad. Tras un adecuado control de calidad y normalización, los análisis multivariantes y diferenciales mostraron una clara separación entre individuos </a:t>
              </a:r>
              <a:r>
                <a:rPr lang="es-ES_tradnl" dirty="0" err="1">
                  <a:solidFill>
                    <a:schemeClr val="tx1"/>
                  </a:solidFill>
                </a:rPr>
                <a:t>Normopeso</a:t>
              </a:r>
              <a:r>
                <a:rPr lang="es-ES_tradnl" dirty="0">
                  <a:solidFill>
                    <a:schemeClr val="tx1"/>
                  </a:solidFill>
                </a:rPr>
                <a:t> y Obeso1, así como un conjunto robusto de genes diferencialmente expresados implicados en la regulación metabólica. En conjunto, estos resultados demuestran que la obesidad se asocia a alteraciones transcriptómicas detectables y reproducibles mediante RNA-</a:t>
              </a:r>
              <a:r>
                <a:rPr lang="es-ES_tradnl" dirty="0" err="1">
                  <a:solidFill>
                    <a:schemeClr val="tx1"/>
                  </a:solidFill>
                </a:rPr>
                <a:t>seq</a:t>
              </a:r>
              <a:r>
                <a:rPr lang="es-ES_tradnl" dirty="0">
                  <a:solidFill>
                    <a:schemeClr val="tx1"/>
                  </a:solidFill>
                </a:rPr>
                <a:t>.</a:t>
              </a: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4"/>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 expresión génica diferencial asociado a obesidad en personajes de Los Simpson </a:t>
            </a:r>
          </a:p>
          <a:p>
            <a:pPr algn="ctr">
              <a:lnSpc>
                <a:spcPct val="80000"/>
              </a:lnSpc>
            </a:pPr>
            <a:r>
              <a:rPr lang="es-ES_tradnl" sz="2800" b="1" i="1" dirty="0">
                <a:solidFill>
                  <a:schemeClr val="bg1"/>
                </a:solidFill>
              </a:rPr>
              <a:t>Secuenciación y </a:t>
            </a:r>
            <a:r>
              <a:rPr lang="es-ES_tradnl" sz="2800" b="1" i="1" dirty="0" err="1">
                <a:solidFill>
                  <a:schemeClr val="bg1"/>
                </a:solidFill>
              </a:rPr>
              <a:t>Ómicas</a:t>
            </a:r>
            <a:r>
              <a:rPr lang="es-ES_tradnl" sz="2800" b="1" i="1" dirty="0">
                <a:solidFill>
                  <a:schemeClr val="bg1"/>
                </a:solidFill>
              </a:rPr>
              <a:t> de Próxima Generación</a:t>
            </a:r>
          </a:p>
          <a:p>
            <a:pPr algn="ctr">
              <a:lnSpc>
                <a:spcPct val="80000"/>
              </a:lnSpc>
            </a:pPr>
            <a:r>
              <a:rPr lang="es-ES" dirty="0"/>
              <a:t>Ainhoa Artetxe, Alba </a:t>
            </a:r>
            <a:r>
              <a:rPr lang="es-ES" dirty="0" err="1"/>
              <a:t>Xiaohe</a:t>
            </a:r>
            <a:r>
              <a:rPr lang="es-ES" dirty="0"/>
              <a:t> </a:t>
            </a:r>
            <a:r>
              <a:rPr lang="es-ES" dirty="0" err="1"/>
              <a:t>Elias</a:t>
            </a:r>
            <a:r>
              <a:rPr lang="es-ES" dirty="0"/>
              <a:t>, Alejandra Martin, Alejandro Pascual, Alicia Muñoz, Ana Sofia Santos Tedim</a:t>
            </a:r>
          </a:p>
        </p:txBody>
      </p:sp>
      <p:sp>
        <p:nvSpPr>
          <p:cNvPr id="1036" name="Rectángulo redondeado 1035">
            <a:extLst>
              <a:ext uri="{FF2B5EF4-FFF2-40B4-BE49-F238E27FC236}">
                <a16:creationId xmlns:a16="http://schemas.microsoft.com/office/drawing/2014/main" id="{AFAF9801-11D6-F874-E9A8-A3E0E4590764}"/>
              </a:ext>
            </a:extLst>
          </p:cNvPr>
          <p:cNvSpPr/>
          <p:nvPr/>
        </p:nvSpPr>
        <p:spPr>
          <a:xfrm>
            <a:off x="518258" y="8158328"/>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i="0" u="none" strike="noStrike" kern="1200" cap="none" spc="0" normalizeH="0" baseline="0" noProof="0" dirty="0">
                <a:ln>
                  <a:noFill/>
                </a:ln>
                <a:solidFill>
                  <a:schemeClr val="tx1"/>
                </a:solidFill>
                <a:effectLst/>
                <a:uLnTx/>
                <a:uFillTx/>
                <a:latin typeface="Aptos" panose="02110004020202020204"/>
                <a:ea typeface="+mn-ea"/>
                <a:cs typeface="+mn-cs"/>
              </a:rPr>
              <a:t>Análisis de Componentes Principales (PCA) de muestras </a:t>
            </a:r>
            <a:r>
              <a:rPr kumimoji="0" lang="es-ES_tradnl" sz="1800" i="0" u="none" strike="noStrike" kern="1200" cap="none" spc="0" normalizeH="0" baseline="0" noProof="0" dirty="0" err="1">
                <a:ln>
                  <a:noFill/>
                </a:ln>
                <a:solidFill>
                  <a:schemeClr val="tx1"/>
                </a:solidFill>
                <a:effectLst/>
                <a:uLnTx/>
                <a:uFillTx/>
                <a:latin typeface="Aptos" panose="02110004020202020204"/>
                <a:ea typeface="+mn-ea"/>
                <a:cs typeface="+mn-cs"/>
              </a:rPr>
              <a:t>Normopeso</a:t>
            </a:r>
            <a:r>
              <a:rPr kumimoji="0" lang="es-ES_tradnl" sz="1800" i="0" u="none" strike="noStrike" kern="1200" cap="none" spc="0" normalizeH="0" baseline="0" noProof="0" dirty="0">
                <a:ln>
                  <a:noFill/>
                </a:ln>
                <a:solidFill>
                  <a:schemeClr val="tx1"/>
                </a:solidFill>
                <a:effectLst/>
                <a:uLnTx/>
                <a:uFillTx/>
                <a:latin typeface="Aptos" panose="02110004020202020204"/>
                <a:ea typeface="+mn-ea"/>
                <a:cs typeface="+mn-cs"/>
              </a:rPr>
              <a:t> y Obeso tras normalización VST</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518258" y="12435892"/>
            <a:ext cx="6692011" cy="51897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Volcano</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plot</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del análisis de expresión diferencial Obeso1 vs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Normopeso</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7542091" y="8158328"/>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global de expresión génica normalizada (VST) en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Normopeso</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y Obeso</a:t>
            </a:r>
          </a:p>
        </p:txBody>
      </p:sp>
      <p:pic>
        <p:nvPicPr>
          <p:cNvPr id="13" name="Imagen 12" descr="Gráfico, Gráfico de dispersión&#10;&#10;El contenido generado por IA puede ser incorrecto.">
            <a:extLst>
              <a:ext uri="{FF2B5EF4-FFF2-40B4-BE49-F238E27FC236}">
                <a16:creationId xmlns:a16="http://schemas.microsoft.com/office/drawing/2014/main" id="{35912612-233E-DB04-391A-7A64C74C8D58}"/>
              </a:ext>
            </a:extLst>
          </p:cNvPr>
          <p:cNvPicPr>
            <a:picLocks noChangeAspect="1"/>
          </p:cNvPicPr>
          <p:nvPr/>
        </p:nvPicPr>
        <p:blipFill>
          <a:blip r:embed="rId5"/>
          <a:stretch>
            <a:fillRect/>
          </a:stretch>
        </p:blipFill>
        <p:spPr>
          <a:xfrm>
            <a:off x="598544" y="8803692"/>
            <a:ext cx="6642100" cy="3632200"/>
          </a:xfrm>
          <a:prstGeom prst="rect">
            <a:avLst/>
          </a:prstGeom>
        </p:spPr>
      </p:pic>
      <p:pic>
        <p:nvPicPr>
          <p:cNvPr id="27" name="Imagen 26">
            <a:extLst>
              <a:ext uri="{FF2B5EF4-FFF2-40B4-BE49-F238E27FC236}">
                <a16:creationId xmlns:a16="http://schemas.microsoft.com/office/drawing/2014/main" id="{6D0E3BA1-945A-7A94-C160-7C86F37EC311}"/>
              </a:ext>
            </a:extLst>
          </p:cNvPr>
          <p:cNvPicPr>
            <a:picLocks noChangeAspect="1"/>
          </p:cNvPicPr>
          <p:nvPr/>
        </p:nvPicPr>
        <p:blipFill>
          <a:blip r:embed="rId6"/>
          <a:stretch>
            <a:fillRect/>
          </a:stretch>
        </p:blipFill>
        <p:spPr>
          <a:xfrm>
            <a:off x="7660342" y="9282826"/>
            <a:ext cx="7033499" cy="7033499"/>
          </a:xfrm>
          <a:prstGeom prst="rect">
            <a:avLst/>
          </a:prstGeom>
        </p:spPr>
      </p:pic>
      <p:pic>
        <p:nvPicPr>
          <p:cNvPr id="31" name="Imagen 30">
            <a:extLst>
              <a:ext uri="{FF2B5EF4-FFF2-40B4-BE49-F238E27FC236}">
                <a16:creationId xmlns:a16="http://schemas.microsoft.com/office/drawing/2014/main" id="{A9065423-C0B6-A4DB-B763-AB87FF63F327}"/>
              </a:ext>
            </a:extLst>
          </p:cNvPr>
          <p:cNvPicPr>
            <a:picLocks noChangeAspect="1"/>
          </p:cNvPicPr>
          <p:nvPr/>
        </p:nvPicPr>
        <p:blipFill>
          <a:blip r:embed="rId7"/>
          <a:stretch>
            <a:fillRect/>
          </a:stretch>
        </p:blipFill>
        <p:spPr>
          <a:xfrm>
            <a:off x="518258" y="12954866"/>
            <a:ext cx="6032481" cy="3983714"/>
          </a:xfrm>
          <a:prstGeom prst="rect">
            <a:avLst/>
          </a:prstGeom>
        </p:spPr>
      </p:pic>
    </p:spTree>
    <p:extLst>
      <p:ext uri="{BB962C8B-B14F-4D97-AF65-F5344CB8AC3E}">
        <p14:creationId xmlns:p14="http://schemas.microsoft.com/office/powerpoint/2010/main" val="220350250"/>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E95016-93A9-4903-BA02-7A05B5939C79}">
  <ds:schemaRefs>
    <ds:schemaRef ds:uri="http://schemas.microsoft.com/sharepoint/v3/contenttype/forms"/>
  </ds:schemaRefs>
</ds:datastoreItem>
</file>

<file path=customXml/itemProps2.xml><?xml version="1.0" encoding="utf-8"?>
<ds:datastoreItem xmlns:ds="http://schemas.openxmlformats.org/officeDocument/2006/customXml" ds:itemID="{D48B5577-5CCE-4E9D-BDFA-952900719EE2}">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3.xml><?xml version="1.0" encoding="utf-8"?>
<ds:datastoreItem xmlns:ds="http://schemas.openxmlformats.org/officeDocument/2006/customXml" ds:itemID="{EA933766-0056-42DC-9416-E7C06BCFC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5315</TotalTime>
  <Words>486</Words>
  <Application>Microsoft Macintosh PowerPoint</Application>
  <PresentationFormat>Personalizado</PresentationFormat>
  <Paragraphs>17</Paragraphs>
  <Slides>1</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Aptos</vt:lpstr>
      <vt:lpstr>Aptos Display</vt:lpstr>
      <vt:lpstr>Arial</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Microsoft Office User</cp:lastModifiedBy>
  <cp:revision>18</cp:revision>
  <dcterms:created xsi:type="dcterms:W3CDTF">2025-04-21T10:03:24Z</dcterms:created>
  <dcterms:modified xsi:type="dcterms:W3CDTF">2025-12-18T23:23:25Z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